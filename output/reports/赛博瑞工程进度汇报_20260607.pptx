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1645920"/>
            <a:ext cx="103601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赛博瑞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2560320"/>
            <a:ext cx="103601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工程进度汇报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914400" y="3474720"/>
            <a:ext cx="2194560" cy="3657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3840480"/>
            <a:ext cx="103601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3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AI驱动的内容工厂 · 抖音短视频文案 + 分镜表 + 热点选题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14400" y="5303520"/>
            <a:ext cx="103601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3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2026.06.07  |  D先生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1072591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7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管线全景：从Brief到成品的一站式内容工厂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960120"/>
            <a:ext cx="1097280" cy="3657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" name="Shape 3"/>
          <p:cNvSpPr/>
          <p:nvPr/>
        </p:nvSpPr>
        <p:spPr>
          <a:xfrm>
            <a:off x="502920" y="1645920"/>
            <a:ext cx="1280160" cy="731520"/>
          </a:xfrm>
          <a:prstGeom prst="roundRect">
            <a:avLst>
              <a:gd name="adj" fmla="val 10000"/>
            </a:avLst>
          </a:prstGeom>
          <a:solidFill>
            <a:srgbClr val="3B82F6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73736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Brief输入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2920" y="205740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docx/txt/飞书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783080" y="1828800"/>
            <a:ext cx="137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73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920240" y="1645920"/>
            <a:ext cx="1280160" cy="731520"/>
          </a:xfrm>
          <a:prstGeom prst="roundRect">
            <a:avLst>
              <a:gd name="adj" fmla="val 10000"/>
            </a:avLst>
          </a:prstGeom>
          <a:solidFill>
            <a:srgbClr val="4F46E5"/>
          </a:solidFill>
          <a:ln/>
        </p:spPr>
      </p:sp>
      <p:sp>
        <p:nvSpPr>
          <p:cNvPr id="10" name="Text 8"/>
          <p:cNvSpPr/>
          <p:nvPr/>
        </p:nvSpPr>
        <p:spPr>
          <a:xfrm>
            <a:off x="1920240" y="173736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RAG检索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920240" y="205740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BGE向量+ChromaDB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200400" y="1828800"/>
            <a:ext cx="137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73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3337560" y="1645920"/>
            <a:ext cx="1280160" cy="731520"/>
          </a:xfrm>
          <a:prstGeom prst="roundRect">
            <a:avLst>
              <a:gd name="adj" fmla="val 10000"/>
            </a:avLst>
          </a:prstGeom>
          <a:solidFill>
            <a:srgbClr val="7C3AED"/>
          </a:solidFill>
          <a:ln/>
        </p:spPr>
      </p:sp>
      <p:sp>
        <p:nvSpPr>
          <p:cNvPr id="14" name="Text 12"/>
          <p:cNvSpPr/>
          <p:nvPr/>
        </p:nvSpPr>
        <p:spPr>
          <a:xfrm>
            <a:off x="3337560" y="173736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DeepSeek生成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337560" y="205740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人设+品类画像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4617720" y="1828800"/>
            <a:ext cx="137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73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754880" y="1645920"/>
            <a:ext cx="1280160" cy="731520"/>
          </a:xfrm>
          <a:prstGeom prst="roundRect">
            <a:avLst>
              <a:gd name="adj" fmla="val 10000"/>
            </a:avLst>
          </a:prstGeom>
          <a:solidFill>
            <a:srgbClr val="8B5CF6"/>
          </a:solidFill>
          <a:ln/>
        </p:spPr>
      </p:sp>
      <p:sp>
        <p:nvSpPr>
          <p:cNvPr id="18" name="Text 16"/>
          <p:cNvSpPr/>
          <p:nvPr/>
        </p:nvSpPr>
        <p:spPr>
          <a:xfrm>
            <a:off x="4754880" y="173736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Wiki注入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754880" y="205740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25000字竞品方法论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6035040" y="1828800"/>
            <a:ext cx="137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73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172200" y="1645920"/>
            <a:ext cx="1280160" cy="731520"/>
          </a:xfrm>
          <a:prstGeom prst="roundRect">
            <a:avLst>
              <a:gd name="adj" fmla="val 10000"/>
            </a:avLst>
          </a:prstGeom>
          <a:solidFill>
            <a:srgbClr val="EF4444"/>
          </a:solidFill>
          <a:ln/>
        </p:spPr>
      </p:sp>
      <p:sp>
        <p:nvSpPr>
          <p:cNvPr id="22" name="Text 20"/>
          <p:cNvSpPr/>
          <p:nvPr/>
        </p:nvSpPr>
        <p:spPr>
          <a:xfrm>
            <a:off x="6172200" y="173736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热点挂钩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172200" y="205740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5平台实时热搜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7452360" y="1828800"/>
            <a:ext cx="137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73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7589520" y="1645920"/>
            <a:ext cx="1280160" cy="731520"/>
          </a:xfrm>
          <a:prstGeom prst="roundRect">
            <a:avLst>
              <a:gd name="adj" fmla="val 10000"/>
            </a:avLst>
          </a:prstGeom>
          <a:solidFill>
            <a:srgbClr val="F59E0B"/>
          </a:solidFill>
          <a:ln/>
        </p:spPr>
      </p:sp>
      <p:sp>
        <p:nvSpPr>
          <p:cNvPr id="26" name="Text 24"/>
          <p:cNvSpPr/>
          <p:nvPr/>
        </p:nvSpPr>
        <p:spPr>
          <a:xfrm>
            <a:off x="7589520" y="173736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14项审计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589520" y="205740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AutoFix×3轮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8869680" y="1828800"/>
            <a:ext cx="137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73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9006840" y="1645920"/>
            <a:ext cx="1280160" cy="731520"/>
          </a:xfrm>
          <a:prstGeom prst="roundRect">
            <a:avLst>
              <a:gd name="adj" fmla="val 10000"/>
            </a:avLst>
          </a:prstGeom>
          <a:solidFill>
            <a:srgbClr val="10B981"/>
          </a:solidFill>
          <a:ln/>
        </p:spPr>
      </p:sp>
      <p:sp>
        <p:nvSpPr>
          <p:cNvPr id="30" name="Text 28"/>
          <p:cNvSpPr/>
          <p:nvPr/>
        </p:nvSpPr>
        <p:spPr>
          <a:xfrm>
            <a:off x="9006840" y="173736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合规过滤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9006840" y="205740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违禁词+填充词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10287000" y="1828800"/>
            <a:ext cx="137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73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10424160" y="1645920"/>
            <a:ext cx="1280160" cy="731520"/>
          </a:xfrm>
          <a:prstGeom prst="roundRect">
            <a:avLst>
              <a:gd name="adj" fmla="val 10000"/>
            </a:avLst>
          </a:prstGeom>
          <a:solidFill>
            <a:srgbClr val="0891B2"/>
          </a:solidFill>
          <a:ln/>
        </p:spPr>
      </p:sp>
      <p:sp>
        <p:nvSpPr>
          <p:cNvPr id="34" name="Text 32"/>
          <p:cNvSpPr/>
          <p:nvPr/>
        </p:nvSpPr>
        <p:spPr>
          <a:xfrm>
            <a:off x="10424160" y="173736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docx输出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10424160" y="205740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格式化成品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731520" y="2926080"/>
            <a:ext cx="2468880" cy="822960"/>
          </a:xfrm>
          <a:prstGeom prst="roundRect">
            <a:avLst>
              <a:gd name="adj" fmla="val 11111"/>
            </a:avLst>
          </a:prstGeom>
          <a:solidFill>
            <a:srgbClr val="F8F9FC"/>
          </a:solidFill>
          <a:ln/>
          <a:effectLst>
            <a:outerShdw sx="100000" sy="100000" kx="0" ky="0" algn="bl" rotWithShape="0" blurRad="76200" dist="25400" dir="16200000">
              <a:srgbClr val="000000">
                <a:alpha val="6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731520" y="306324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3B82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</a:t>
            </a:r>
            <a:endParaRPr lang="en-US" sz="2800" dirty="0"/>
          </a:p>
        </p:txBody>
      </p:sp>
      <p:sp>
        <p:nvSpPr>
          <p:cNvPr id="38" name="Text 36"/>
          <p:cNvSpPr/>
          <p:nvPr/>
        </p:nvSpPr>
        <p:spPr>
          <a:xfrm>
            <a:off x="731520" y="352044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3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今天修复的文件数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3474720" y="2926080"/>
            <a:ext cx="2468880" cy="822960"/>
          </a:xfrm>
          <a:prstGeom prst="roundRect">
            <a:avLst>
              <a:gd name="adj" fmla="val 11111"/>
            </a:avLst>
          </a:prstGeom>
          <a:solidFill>
            <a:srgbClr val="F8F9FC"/>
          </a:solidFill>
          <a:ln/>
          <a:effectLst>
            <a:outerShdw sx="100000" sy="100000" kx="0" ky="0" algn="bl" rotWithShape="0" blurRad="76200" dist="25400" dir="16200000">
              <a:srgbClr val="000000">
                <a:alpha val="6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3474720" y="306324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0B9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5→3</a:t>
            </a:r>
            <a:endParaRPr lang="en-US" sz="2800" dirty="0"/>
          </a:p>
        </p:txBody>
      </p:sp>
      <p:sp>
        <p:nvSpPr>
          <p:cNvPr id="41" name="Text 39"/>
          <p:cNvSpPr/>
          <p:nvPr/>
        </p:nvSpPr>
        <p:spPr>
          <a:xfrm>
            <a:off x="3474720" y="352044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3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核心卖点聚焦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6217920" y="2926080"/>
            <a:ext cx="2468880" cy="822960"/>
          </a:xfrm>
          <a:prstGeom prst="roundRect">
            <a:avLst>
              <a:gd name="adj" fmla="val 11111"/>
            </a:avLst>
          </a:prstGeom>
          <a:solidFill>
            <a:srgbClr val="F8F9FC"/>
          </a:solidFill>
          <a:ln/>
          <a:effectLst>
            <a:outerShdw sx="100000" sy="100000" kx="0" ky="0" algn="bl" rotWithShape="0" blurRad="76200" dist="25400" dir="16200000">
              <a:srgbClr val="000000">
                <a:alpha val="6000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6217920" y="306324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F46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24660</a:t>
            </a:r>
            <a:endParaRPr lang="en-US" sz="2800" dirty="0"/>
          </a:p>
        </p:txBody>
      </p:sp>
      <p:sp>
        <p:nvSpPr>
          <p:cNvPr id="44" name="Text 42"/>
          <p:cNvSpPr/>
          <p:nvPr/>
        </p:nvSpPr>
        <p:spPr>
          <a:xfrm>
            <a:off x="6217920" y="352044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3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Wiki注入字数/次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8961120" y="2926080"/>
            <a:ext cx="2468880" cy="822960"/>
          </a:xfrm>
          <a:prstGeom prst="roundRect">
            <a:avLst>
              <a:gd name="adj" fmla="val 11111"/>
            </a:avLst>
          </a:prstGeom>
          <a:solidFill>
            <a:srgbClr val="F8F9FC"/>
          </a:solidFill>
          <a:ln/>
          <a:effectLst>
            <a:outerShdw sx="100000" sy="100000" kx="0" ky="0" algn="bl" rotWithShape="0" blurRad="76200" dist="25400" dir="16200000">
              <a:srgbClr val="000000">
                <a:alpha val="6000"/>
              </a:srgbClr>
            </a:outerShdw>
          </a:effectLst>
        </p:spPr>
      </p:sp>
      <p:sp>
        <p:nvSpPr>
          <p:cNvPr id="46" name="Text 44"/>
          <p:cNvSpPr/>
          <p:nvPr/>
        </p:nvSpPr>
        <p:spPr>
          <a:xfrm>
            <a:off x="8961120" y="306324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10/12</a:t>
            </a:r>
            <a:endParaRPr lang="en-US" sz="2800" dirty="0"/>
          </a:p>
        </p:txBody>
      </p:sp>
      <p:sp>
        <p:nvSpPr>
          <p:cNvPr id="47" name="Text 45"/>
          <p:cNvSpPr/>
          <p:nvPr/>
        </p:nvSpPr>
        <p:spPr>
          <a:xfrm>
            <a:off x="8961120" y="352044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3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质检通过门槛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731520" y="42062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7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关键产出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731520" y="461772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文案生成：Brief→120秒抖音口播脚本（.docx）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731520" y="498348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分镜表：口播脚本→10列分镜表（.xlsx）+灯位图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731520" y="534924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热点选题：每日5平台热搜→HTML看板+选题建议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731520" y="571500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竞品学习：B站竞品分析→wiki知识库→生成反哺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1072591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7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文案生成升级：从AI味到人味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960120"/>
            <a:ext cx="1097280" cy="3657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371600"/>
            <a:ext cx="2468880" cy="3200400"/>
          </a:xfrm>
          <a:prstGeom prst="roundRect">
            <a:avLst>
              <a:gd name="adj" fmla="val 2963"/>
            </a:avLst>
          </a:prstGeom>
          <a:solidFill>
            <a:srgbClr val="FEF2F2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46304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F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BEFORE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68680" y="169164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热点挂钩失控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68680" y="2057400"/>
            <a:ext cx="219456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3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"养龙虾都玩到AI小龙虾了"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B73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过期梗，跟键盘零相关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B73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生搬硬套，观众反感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383280" y="1371600"/>
            <a:ext cx="2468880" cy="3200400"/>
          </a:xfrm>
          <a:prstGeom prst="roundRect">
            <a:avLst>
              <a:gd name="adj" fmla="val 2963"/>
            </a:avLst>
          </a:prstGeom>
          <a:solidFill>
            <a:srgbClr val="ECFDF5"/>
          </a:solidFill>
          <a:ln/>
        </p:spPr>
      </p:sp>
      <p:sp>
        <p:nvSpPr>
          <p:cNvPr id="10" name="Text 8"/>
          <p:cNvSpPr/>
          <p:nvPr/>
        </p:nvSpPr>
        <p:spPr>
          <a:xfrm>
            <a:off x="3520440" y="146304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10B9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AFTER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520440" y="169164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热点选题系统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520440" y="2057400"/>
            <a:ext cx="219456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3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"磁轴键盘卷到500块了"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B73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实时热搜+行业事件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B73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必须与产品品类关键词重叠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309360" y="1371600"/>
            <a:ext cx="2468880" cy="3200400"/>
          </a:xfrm>
          <a:prstGeom prst="roundRect">
            <a:avLst>
              <a:gd name="adj" fmla="val 2963"/>
            </a:avLst>
          </a:prstGeom>
          <a:solidFill>
            <a:srgbClr val="FEF2F2"/>
          </a:solidFill>
          <a:ln/>
        </p:spPr>
      </p:sp>
      <p:sp>
        <p:nvSpPr>
          <p:cNvPr id="14" name="Text 12"/>
          <p:cNvSpPr/>
          <p:nvPr/>
        </p:nvSpPr>
        <p:spPr>
          <a:xfrm>
            <a:off x="6446520" y="146304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F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BEFORE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446520" y="169164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老铁味填充词泛滥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446520" y="2057400"/>
            <a:ext cx="219456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3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"说实话"×6次, "有一说一"×4次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B73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"不吹不黑"×2次, "我用下来"×5次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B73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表演式口语，像在努力装熟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8961120" y="1371600"/>
            <a:ext cx="2468880" cy="3200400"/>
          </a:xfrm>
          <a:prstGeom prst="roundRect">
            <a:avLst>
              <a:gd name="adj" fmla="val 2963"/>
            </a:avLst>
          </a:prstGeom>
          <a:solidFill>
            <a:srgbClr val="ECFDF5"/>
          </a:solidFill>
          <a:ln/>
        </p:spPr>
      </p:sp>
      <p:sp>
        <p:nvSpPr>
          <p:cNvPr id="18" name="Text 16"/>
          <p:cNvSpPr/>
          <p:nvPr/>
        </p:nvSpPr>
        <p:spPr>
          <a:xfrm>
            <a:off x="9098280" y="146304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10B9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AFTER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9098280" y="169164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人话写作铁律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9098280" y="2057400"/>
            <a:ext cx="219456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3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0个填充词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B73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事实→感受→判断三段式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B73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短-长-短呼吸节奏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B73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450-500字短平快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731520" y="49377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7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文案输出对比（海信大圣G5 Pro+）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731520" y="5303520"/>
            <a:ext cx="5120640" cy="1097280"/>
          </a:xfrm>
          <a:prstGeom prst="roundRect">
            <a:avLst>
              <a:gd name="adj" fmla="val 5000"/>
            </a:avLst>
          </a:prstGeom>
          <a:solidFill>
            <a:srgbClr val="FEF2F2"/>
          </a:solidFill>
          <a:ln/>
        </p:spPr>
      </p:sp>
      <p:sp>
        <p:nvSpPr>
          <p:cNvPr id="23" name="Text 21"/>
          <p:cNvSpPr/>
          <p:nvPr/>
        </p:nvSpPr>
        <p:spPr>
          <a:xfrm>
            <a:off x="822960" y="534924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F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修复前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822960" y="5577840"/>
            <a:ext cx="4846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3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"说实话，懂的都懂啊。275Hz只要1099，还包屏幕没坏点。我测完发现，这真不是噱头。"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309360" y="5303520"/>
            <a:ext cx="5120640" cy="1097280"/>
          </a:xfrm>
          <a:prstGeom prst="roundRect">
            <a:avLst>
              <a:gd name="adj" fmla="val 5000"/>
            </a:avLst>
          </a:prstGeom>
          <a:solidFill>
            <a:srgbClr val="ECFDF5"/>
          </a:solidFill>
          <a:ln/>
        </p:spPr>
      </p:sp>
      <p:sp>
        <p:nvSpPr>
          <p:cNvPr id="26" name="Text 24"/>
          <p:cNvSpPr/>
          <p:nvPr/>
        </p:nvSpPr>
        <p:spPr>
          <a:xfrm>
            <a:off x="6400800" y="534924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0B9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修复后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6400800" y="5577840"/>
            <a:ext cx="4846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3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"1099。海信给的不是价格战。是白纸黑字的无坏点协议。特挑IPS面板，出厂一台一台挑。坏了？半年内师傅上门换。"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1072591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7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竞品学习系统：从截断到智能提取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960120"/>
            <a:ext cx="1097280" cy="3657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371600"/>
            <a:ext cx="2468880" cy="1828800"/>
          </a:xfrm>
          <a:prstGeom prst="roundRect">
            <a:avLst>
              <a:gd name="adj" fmla="val 4000"/>
            </a:avLst>
          </a:prstGeom>
          <a:solidFill>
            <a:srgbClr val="FEF2F2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46304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F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BEFORE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68680" y="169164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盲目截断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68680" y="2057400"/>
            <a:ext cx="21945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3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每个wiki页面截断到1500字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B73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LLM只看到19%的竞品洞察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B73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总注入量：~7000字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383280" y="1371600"/>
            <a:ext cx="2468880" cy="1828800"/>
          </a:xfrm>
          <a:prstGeom prst="roundRect">
            <a:avLst>
              <a:gd name="adj" fmla="val 4000"/>
            </a:avLst>
          </a:prstGeom>
          <a:solidFill>
            <a:srgbClr val="ECFDF5"/>
          </a:solidFill>
          <a:ln/>
        </p:spPr>
      </p:sp>
      <p:sp>
        <p:nvSpPr>
          <p:cNvPr id="10" name="Text 8"/>
          <p:cNvSpPr/>
          <p:nvPr/>
        </p:nvSpPr>
        <p:spPr>
          <a:xfrm>
            <a:off x="3520440" y="146304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10B9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AFTER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520440" y="169164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相关性提取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520440" y="2057400"/>
            <a:ext cx="21945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3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按产品卖点关键词匹配章节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B73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相关章节全量保留（5000字/页）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B73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总注入量：25000字（4x）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309360" y="1371600"/>
            <a:ext cx="2468880" cy="1828800"/>
          </a:xfrm>
          <a:prstGeom prst="roundRect">
            <a:avLst>
              <a:gd name="adj" fmla="val 4000"/>
            </a:avLst>
          </a:prstGeom>
          <a:solidFill>
            <a:srgbClr val="FEF2F2"/>
          </a:solidFill>
          <a:ln/>
        </p:spPr>
      </p:sp>
      <p:sp>
        <p:nvSpPr>
          <p:cNvPr id="14" name="Text 12"/>
          <p:cNvSpPr/>
          <p:nvPr/>
        </p:nvSpPr>
        <p:spPr>
          <a:xfrm>
            <a:off x="6446520" y="146304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F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BEFORE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446520" y="169164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参考材料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446520" y="2057400"/>
            <a:ext cx="21945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3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wiki作为"背景知识"放在提示词末尾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B73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LLM不强制使用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B73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竞品分析做了但没用上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8961120" y="1371600"/>
            <a:ext cx="2468880" cy="1828800"/>
          </a:xfrm>
          <a:prstGeom prst="roundRect">
            <a:avLst>
              <a:gd name="adj" fmla="val 4000"/>
            </a:avLst>
          </a:prstGeom>
          <a:solidFill>
            <a:srgbClr val="ECFDF5"/>
          </a:solidFill>
          <a:ln/>
        </p:spPr>
      </p:sp>
      <p:sp>
        <p:nvSpPr>
          <p:cNvPr id="18" name="Text 16"/>
          <p:cNvSpPr/>
          <p:nvPr/>
        </p:nvSpPr>
        <p:spPr>
          <a:xfrm>
            <a:off x="9098280" y="146304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10B9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AFTER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9098280" y="169164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强制指令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9098280" y="2057400"/>
            <a:ext cx="21945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3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"这是指令，不是参考资料"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B73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必须使用的结构模式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B73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必须避免的表达（违反=不合格）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B73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竞品→wiki→生成 闭环打通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731520" y="35661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7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注入内容示例（键盘品类钩子模式页）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731520" y="4023360"/>
            <a:ext cx="10698480" cy="502920"/>
          </a:xfrm>
          <a:prstGeom prst="roundRect">
            <a:avLst>
              <a:gd name="adj" fmla="val 10909"/>
            </a:avLst>
          </a:prstGeom>
          <a:solidFill>
            <a:srgbClr val="F8F9FC"/>
          </a:solidFill>
          <a:ln/>
        </p:spPr>
      </p:sp>
      <p:sp>
        <p:nvSpPr>
          <p:cNvPr id="23" name="Text 21"/>
          <p:cNvSpPr/>
          <p:nvPr/>
        </p:nvSpPr>
        <p:spPr>
          <a:xfrm>
            <a:off x="914400" y="406908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7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五段式结构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914400" y="4279392"/>
            <a:ext cx="10332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3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开场钩子(4%)→尺寸分类(18%)→外形材质(29%)→轴体手感(43%)→总结表格(6%)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731520" y="4617720"/>
            <a:ext cx="10698480" cy="502920"/>
          </a:xfrm>
          <a:prstGeom prst="roundRect">
            <a:avLst>
              <a:gd name="adj" fmla="val 10909"/>
            </a:avLst>
          </a:prstGeom>
          <a:solidFill>
            <a:srgbClr val="F8F9FC"/>
          </a:solidFill>
          <a:ln/>
        </p:spPr>
      </p:sp>
      <p:sp>
        <p:nvSpPr>
          <p:cNvPr id="26" name="Text 24"/>
          <p:cNvSpPr/>
          <p:nvPr/>
        </p:nvSpPr>
        <p:spPr>
          <a:xfrm>
            <a:off x="914400" y="466344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7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四段式结构(磁轴/RT)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914400" y="4873752"/>
            <a:ext cx="10332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3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争议锚定(15%)→原理科普(35%)→实测体验(30%)→价值收尾(20%)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731520" y="5212080"/>
            <a:ext cx="10698480" cy="502920"/>
          </a:xfrm>
          <a:prstGeom prst="roundRect">
            <a:avLst>
              <a:gd name="adj" fmla="val 10909"/>
            </a:avLst>
          </a:prstGeom>
          <a:solidFill>
            <a:srgbClr val="F8F9FC"/>
          </a:solidFill>
          <a:ln/>
        </p:spPr>
      </p:sp>
      <p:sp>
        <p:nvSpPr>
          <p:cNvPr id="29" name="Text 27"/>
          <p:cNvSpPr/>
          <p:nvPr/>
        </p:nvSpPr>
        <p:spPr>
          <a:xfrm>
            <a:off x="914400" y="525780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7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类比简化句式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914400" y="5468112"/>
            <a:ext cx="10332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3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"线性轴手感像圆珠笔只按上半截" "磁轴0.1mm响应 vs 传统2mm触发 = 百米冲刺 vs 走路"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731520" y="5806440"/>
            <a:ext cx="10698480" cy="502920"/>
          </a:xfrm>
          <a:prstGeom prst="roundRect">
            <a:avLst>
              <a:gd name="adj" fmla="val 10909"/>
            </a:avLst>
          </a:prstGeom>
          <a:solidFill>
            <a:srgbClr val="F8F9FC"/>
          </a:solidFill>
          <a:ln/>
        </p:spPr>
      </p:sp>
      <p:sp>
        <p:nvSpPr>
          <p:cNvPr id="32" name="Text 30"/>
          <p:cNvSpPr/>
          <p:nvPr/>
        </p:nvSpPr>
        <p:spPr>
          <a:xfrm>
            <a:off x="914400" y="585216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7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数字锚定+否定式定义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914400" y="6062472"/>
            <a:ext cx="10332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3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"记住，RT不是让你变强，而是让你少犯错"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1072591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7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热点选题系统：从空壳到每日自动运营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960120"/>
            <a:ext cx="1097280" cy="3657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371600"/>
            <a:ext cx="2468880" cy="1645920"/>
          </a:xfrm>
          <a:prstGeom prst="roundRect">
            <a:avLst>
              <a:gd name="adj" fmla="val 4444"/>
            </a:avLst>
          </a:prstGeom>
          <a:solidFill>
            <a:srgbClr val="FEF2F2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46304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F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BEFORE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68680" y="169164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选题空壳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68680" y="2057400"/>
            <a:ext cx="2194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3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CORE_MEMES硬编码11条过期梗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B73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"AI小龙虾"死了2个月还在用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B73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无web抓取，缓存永不过期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B73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topics_seed.txt手动维护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383280" y="1371600"/>
            <a:ext cx="2468880" cy="1645920"/>
          </a:xfrm>
          <a:prstGeom prst="roundRect">
            <a:avLst>
              <a:gd name="adj" fmla="val 4444"/>
            </a:avLst>
          </a:prstGeom>
          <a:solidFill>
            <a:srgbClr val="ECFDF5"/>
          </a:solidFill>
          <a:ln/>
        </p:spPr>
      </p:sp>
      <p:sp>
        <p:nvSpPr>
          <p:cNvPr id="10" name="Text 8"/>
          <p:cNvSpPr/>
          <p:nvPr/>
        </p:nvSpPr>
        <p:spPr>
          <a:xfrm>
            <a:off x="3520440" y="146304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10B9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AFTER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520440" y="169164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每日自动运营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520440" y="2057400"/>
            <a:ext cx="2194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3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hot-topics API：微博/知乎/百度/抖音/B站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B73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自动过滤→评分→去重→分类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B73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每话题3个切入角度+数码挂钩方式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B73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每天早上8:57自动运行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309360" y="1371600"/>
            <a:ext cx="2468880" cy="777240"/>
          </a:xfrm>
          <a:prstGeom prst="roundRect">
            <a:avLst>
              <a:gd name="adj" fmla="val 11765"/>
            </a:avLst>
          </a:prstGeom>
          <a:solidFill>
            <a:srgbClr val="F8F9FC"/>
          </a:solidFill>
          <a:ln/>
          <a:effectLst>
            <a:outerShdw sx="100000" sy="100000" kx="0" ky="0" algn="bl" rotWithShape="0" blurRad="76200" dist="25400" dir="16200000">
              <a:srgbClr val="000000">
                <a:alpha val="6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309360" y="150876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3B82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6309360" y="196596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3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实时数据平台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9052560" y="1371600"/>
            <a:ext cx="2468880" cy="777240"/>
          </a:xfrm>
          <a:prstGeom prst="roundRect">
            <a:avLst>
              <a:gd name="adj" fmla="val 11765"/>
            </a:avLst>
          </a:prstGeom>
          <a:solidFill>
            <a:srgbClr val="F8F9FC"/>
          </a:solidFill>
          <a:ln/>
          <a:effectLst>
            <a:outerShdw sx="100000" sy="100000" kx="0" ky="0" algn="bl" rotWithShape="0" blurRad="76200" dist="25400" dir="16200000">
              <a:srgbClr val="000000">
                <a:alpha val="6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052560" y="150876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7天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9052560" y="196596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3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自动清理周期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31520" y="33832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7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每日产出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731520" y="3794760"/>
            <a:ext cx="3383280" cy="2286000"/>
          </a:xfrm>
          <a:prstGeom prst="roundRect">
            <a:avLst>
              <a:gd name="adj" fmla="val 3200"/>
            </a:avLst>
          </a:prstGeom>
          <a:solidFill>
            <a:srgbClr val="F8F9FC"/>
          </a:solidFill>
          <a:ln/>
        </p:spPr>
      </p:sp>
      <p:sp>
        <p:nvSpPr>
          <p:cNvPr id="21" name="Text 19"/>
          <p:cNvSpPr/>
          <p:nvPr/>
        </p:nvSpPr>
        <p:spPr>
          <a:xfrm>
            <a:off x="914400" y="3931920"/>
            <a:ext cx="301752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HTML可视化看板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编辑报刊风格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Noto Serif SC字体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平台彩色标签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评分条+难度评估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COMPUTEX专题深度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389120" y="3794760"/>
            <a:ext cx="3383280" cy="2286000"/>
          </a:xfrm>
          <a:prstGeom prst="roundRect">
            <a:avLst>
              <a:gd name="adj" fmla="val 3200"/>
            </a:avLst>
          </a:prstGeom>
          <a:solidFill>
            <a:srgbClr val="F8F9FC"/>
          </a:solidFill>
          <a:ln/>
        </p:spPr>
      </p:sp>
      <p:sp>
        <p:nvSpPr>
          <p:cNvPr id="23" name="Text 21"/>
          <p:cNvSpPr/>
          <p:nvPr/>
        </p:nvSpPr>
        <p:spPr>
          <a:xfrm>
            <a:off x="4572000" y="3931920"/>
            <a:ext cx="301752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管线自动挂钩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topics_seed.txt自动更新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meme_engine读取种子文件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生成文案时自动匹配相关热点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键盘→"磁轴内卷到500元"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鼠标→"轻量化鼠标大横评"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8046720" y="3794760"/>
            <a:ext cx="3383280" cy="2286000"/>
          </a:xfrm>
          <a:prstGeom prst="roundRect">
            <a:avLst>
              <a:gd name="adj" fmla="val 3200"/>
            </a:avLst>
          </a:prstGeom>
          <a:solidFill>
            <a:srgbClr val="F8F9FC"/>
          </a:solidFill>
          <a:ln/>
        </p:spPr>
      </p:sp>
      <p:sp>
        <p:nvSpPr>
          <p:cNvPr id="25" name="Text 23"/>
          <p:cNvSpPr/>
          <p:nvPr/>
        </p:nvSpPr>
        <p:spPr>
          <a:xfrm>
            <a:off x="8229600" y="3931920"/>
            <a:ext cx="301752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商单空档期内容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每日推荐选题+优先级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★★★爆款潜力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★★值得做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视频类型+预计效果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干货/教学/盘点/观点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1072591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7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质检体系升级：从事后补救到事前预防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960120"/>
            <a:ext cx="1097280" cy="3657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371600"/>
            <a:ext cx="2468880" cy="777240"/>
          </a:xfrm>
          <a:prstGeom prst="roundRect">
            <a:avLst>
              <a:gd name="adj" fmla="val 11765"/>
            </a:avLst>
          </a:prstGeom>
          <a:solidFill>
            <a:srgbClr val="F8F9FC"/>
          </a:solidFill>
          <a:ln/>
          <a:effectLst>
            <a:outerShdw sx="100000" sy="100000" kx="0" ky="0" algn="bl" rotWithShape="0" blurRad="76200" dist="25400" dir="16200000">
              <a:srgbClr val="000000">
                <a:alpha val="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31520" y="150876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3B82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11→12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731520" y="196596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3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审计检查项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474720" y="1371600"/>
            <a:ext cx="2468880" cy="777240"/>
          </a:xfrm>
          <a:prstGeom prst="roundRect">
            <a:avLst>
              <a:gd name="adj" fmla="val 11765"/>
            </a:avLst>
          </a:prstGeom>
          <a:solidFill>
            <a:srgbClr val="F8F9FC"/>
          </a:solidFill>
          <a:ln/>
          <a:effectLst>
            <a:outerShdw sx="100000" sy="100000" kx="0" ky="0" algn="bl" rotWithShape="0" blurRad="76200" dist="25400" dir="16200000">
              <a:srgbClr val="000000">
                <a:alpha val="6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474720" y="150876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8→10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474720" y="196596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3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通过门槛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217920" y="1371600"/>
            <a:ext cx="2468880" cy="777240"/>
          </a:xfrm>
          <a:prstGeom prst="roundRect">
            <a:avLst>
              <a:gd name="adj" fmla="val 11765"/>
            </a:avLst>
          </a:prstGeom>
          <a:solidFill>
            <a:srgbClr val="F8F9FC"/>
          </a:solidFill>
          <a:ln/>
          <a:effectLst>
            <a:outerShdw sx="100000" sy="100000" kx="0" ky="0" algn="bl" rotWithShape="0" blurRad="76200" dist="25400" dir="16200000">
              <a:srgbClr val="000000">
                <a:alpha val="6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217920" y="150876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0B9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+5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6217920" y="196596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3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新增检测规则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8961120" y="1371600"/>
            <a:ext cx="2468880" cy="777240"/>
          </a:xfrm>
          <a:prstGeom prst="roundRect">
            <a:avLst>
              <a:gd name="adj" fmla="val 11765"/>
            </a:avLst>
          </a:prstGeom>
          <a:solidFill>
            <a:srgbClr val="F8F9FC"/>
          </a:solidFill>
          <a:ln/>
          <a:effectLst>
            <a:outerShdw sx="100000" sy="100000" kx="0" ky="0" algn="bl" rotWithShape="0" blurRad="76200" dist="25400" dir="16200000">
              <a:srgbClr val="000000">
                <a:alpha val="6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961120" y="150876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F46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3轮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8961120" y="196596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3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AutoFix循环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31520" y="24688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7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新增检测项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731520" y="2880360"/>
            <a:ext cx="10698480" cy="502920"/>
          </a:xfrm>
          <a:prstGeom prst="roundRect">
            <a:avLst>
              <a:gd name="adj" fmla="val 10909"/>
            </a:avLst>
          </a:prstGeom>
          <a:solidFill>
            <a:srgbClr val="F8F9FC"/>
          </a:solidFill>
          <a:ln/>
        </p:spPr>
      </p:sp>
      <p:sp>
        <p:nvSpPr>
          <p:cNvPr id="19" name="Shape 17"/>
          <p:cNvSpPr/>
          <p:nvPr/>
        </p:nvSpPr>
        <p:spPr>
          <a:xfrm>
            <a:off x="731520" y="2880360"/>
            <a:ext cx="54864" cy="50292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0" name="Text 18"/>
          <p:cNvSpPr/>
          <p:nvPr/>
        </p:nvSpPr>
        <p:spPr>
          <a:xfrm>
            <a:off x="1005840" y="292608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7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表演式口语检测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005840" y="3136392"/>
            <a:ext cx="10241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3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假老铁填充词&gt;1个即挂——「说实话」「有一说一」「好家伙」「稳得一批」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731520" y="3474720"/>
            <a:ext cx="10698480" cy="502920"/>
          </a:xfrm>
          <a:prstGeom prst="roundRect">
            <a:avLst>
              <a:gd name="adj" fmla="val 10909"/>
            </a:avLst>
          </a:prstGeom>
          <a:solidFill>
            <a:srgbClr val="F8F9FC"/>
          </a:solidFill>
          <a:ln/>
        </p:spPr>
      </p:sp>
      <p:sp>
        <p:nvSpPr>
          <p:cNvPr id="23" name="Shape 21"/>
          <p:cNvSpPr/>
          <p:nvPr/>
        </p:nvSpPr>
        <p:spPr>
          <a:xfrm>
            <a:off x="731520" y="3474720"/>
            <a:ext cx="54864" cy="5029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4" name="Text 22"/>
          <p:cNvSpPr/>
          <p:nvPr/>
        </p:nvSpPr>
        <p:spPr>
          <a:xfrm>
            <a:off x="1005840" y="352044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7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价格裸数字检测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005840" y="3730752"/>
            <a:ext cx="10241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3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"只要1099" "到手699"等口语报价现在能被识别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731520" y="4069080"/>
            <a:ext cx="10698480" cy="502920"/>
          </a:xfrm>
          <a:prstGeom prst="roundRect">
            <a:avLst>
              <a:gd name="adj" fmla="val 10909"/>
            </a:avLst>
          </a:prstGeom>
          <a:solidFill>
            <a:srgbClr val="F8F9FC"/>
          </a:solidFill>
          <a:ln/>
        </p:spPr>
      </p:sp>
      <p:sp>
        <p:nvSpPr>
          <p:cNvPr id="27" name="Shape 25"/>
          <p:cNvSpPr/>
          <p:nvPr/>
        </p:nvSpPr>
        <p:spPr>
          <a:xfrm>
            <a:off x="731520" y="4069080"/>
            <a:ext cx="54864" cy="5029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8" name="Text 26"/>
          <p:cNvSpPr/>
          <p:nvPr/>
        </p:nvSpPr>
        <p:spPr>
          <a:xfrm>
            <a:off x="1005840" y="411480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7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违禁词扩充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005840" y="4325112"/>
            <a:ext cx="10241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3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新增「独有」「天花板」「毕业」「封神」→自动替换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731520" y="4663440"/>
            <a:ext cx="10698480" cy="502920"/>
          </a:xfrm>
          <a:prstGeom prst="roundRect">
            <a:avLst>
              <a:gd name="adj" fmla="val 10909"/>
            </a:avLst>
          </a:prstGeom>
          <a:solidFill>
            <a:srgbClr val="F8F9FC"/>
          </a:solidFill>
          <a:ln/>
        </p:spPr>
      </p:sp>
      <p:sp>
        <p:nvSpPr>
          <p:cNvPr id="31" name="Shape 29"/>
          <p:cNvSpPr/>
          <p:nvPr/>
        </p:nvSpPr>
        <p:spPr>
          <a:xfrm>
            <a:off x="731520" y="4663440"/>
            <a:ext cx="54864" cy="50292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2" name="Text 30"/>
          <p:cNvSpPr/>
          <p:nvPr/>
        </p:nvSpPr>
        <p:spPr>
          <a:xfrm>
            <a:off x="1005840" y="470916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7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态度密度阈值提升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1005840" y="4919472"/>
            <a:ext cx="10241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3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2.0→3.0/200字——需要更多实质性判断，不是填充词凑数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731520" y="5257800"/>
            <a:ext cx="10698480" cy="502920"/>
          </a:xfrm>
          <a:prstGeom prst="roundRect">
            <a:avLst>
              <a:gd name="adj" fmla="val 10909"/>
            </a:avLst>
          </a:prstGeom>
          <a:solidFill>
            <a:srgbClr val="F8F9FC"/>
          </a:solidFill>
          <a:ln/>
        </p:spPr>
      </p:sp>
      <p:sp>
        <p:nvSpPr>
          <p:cNvPr id="35" name="Shape 33"/>
          <p:cNvSpPr/>
          <p:nvPr/>
        </p:nvSpPr>
        <p:spPr>
          <a:xfrm>
            <a:off x="731520" y="5257800"/>
            <a:ext cx="54864" cy="5029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6" name="Text 34"/>
          <p:cNvSpPr/>
          <p:nvPr/>
        </p:nvSpPr>
        <p:spPr>
          <a:xfrm>
            <a:off x="1005840" y="530352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7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信息搬运阈值提升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1005840" y="5513832"/>
            <a:ext cx="10241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3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观点句占比15%→25%——减少产品说明书式输出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1072591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7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分镜表系统：从表格到拍摄现场工具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960120"/>
            <a:ext cx="1097280" cy="3657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371600"/>
            <a:ext cx="2468880" cy="777240"/>
          </a:xfrm>
          <a:prstGeom prst="roundRect">
            <a:avLst>
              <a:gd name="adj" fmla="val 11765"/>
            </a:avLst>
          </a:prstGeom>
          <a:solidFill>
            <a:srgbClr val="F8F9FC"/>
          </a:solidFill>
          <a:ln/>
          <a:effectLst>
            <a:outerShdw sx="100000" sy="100000" kx="0" ky="0" algn="bl" rotWithShape="0" blurRad="76200" dist="25400" dir="16200000">
              <a:srgbClr val="000000">
                <a:alpha val="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31520" y="150876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3B82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10列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731520" y="196596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3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精简布局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474720" y="1371600"/>
            <a:ext cx="2468880" cy="777240"/>
          </a:xfrm>
          <a:prstGeom prst="roundRect">
            <a:avLst>
              <a:gd name="adj" fmla="val 11765"/>
            </a:avLst>
          </a:prstGeom>
          <a:solidFill>
            <a:srgbClr val="F8F9FC"/>
          </a:solidFill>
          <a:ln/>
          <a:effectLst>
            <a:outerShdw sx="100000" sy="100000" kx="0" ky="0" algn="bl" rotWithShape="0" blurRad="76200" dist="25400" dir="16200000">
              <a:srgbClr val="000000">
                <a:alpha val="6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474720" y="150876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0B9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莫兰迪绿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474720" y="196596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3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配色方案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217920" y="1371600"/>
            <a:ext cx="2468880" cy="777240"/>
          </a:xfrm>
          <a:prstGeom prst="roundRect">
            <a:avLst>
              <a:gd name="adj" fmla="val 11765"/>
            </a:avLst>
          </a:prstGeom>
          <a:solidFill>
            <a:srgbClr val="F8F9FC"/>
          </a:solidFill>
          <a:ln/>
          <a:effectLst>
            <a:outerShdw sx="100000" sy="100000" kx="0" ky="0" algn="bl" rotWithShape="0" blurRad="76200" dist="25400" dir="16200000">
              <a:srgbClr val="000000">
                <a:alpha val="6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217920" y="150876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33镜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6217920" y="196596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3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自动生成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8961120" y="1371600"/>
            <a:ext cx="2468880" cy="777240"/>
          </a:xfrm>
          <a:prstGeom prst="roundRect">
            <a:avLst>
              <a:gd name="adj" fmla="val 11765"/>
            </a:avLst>
          </a:prstGeom>
          <a:solidFill>
            <a:srgbClr val="F8F9FC"/>
          </a:solidFill>
          <a:ln/>
          <a:effectLst>
            <a:outerShdw sx="100000" sy="100000" kx="0" ky="0" algn="bl" rotWithShape="0" blurRad="76200" dist="25400" dir="16200000">
              <a:srgbClr val="000000">
                <a:alpha val="6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961120" y="150876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F46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 Sheet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8961120" y="196596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3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分镜+灯位图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31520" y="24688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7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列结构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731520" y="2880360"/>
            <a:ext cx="1024128" cy="457200"/>
          </a:xfrm>
          <a:prstGeom prst="roundRect">
            <a:avLst>
              <a:gd name="adj" fmla="val 12000"/>
            </a:avLst>
          </a:prstGeom>
          <a:solidFill>
            <a:srgbClr val="1A2744"/>
          </a:solidFill>
          <a:ln/>
        </p:spPr>
      </p:sp>
      <p:sp>
        <p:nvSpPr>
          <p:cNvPr id="19" name="Text 17"/>
          <p:cNvSpPr/>
          <p:nvPr/>
        </p:nvSpPr>
        <p:spPr>
          <a:xfrm>
            <a:off x="731520" y="2944368"/>
            <a:ext cx="10241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镜号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1847088" y="2880360"/>
            <a:ext cx="1024128" cy="457200"/>
          </a:xfrm>
          <a:prstGeom prst="roundRect">
            <a:avLst>
              <a:gd name="adj" fmla="val 12000"/>
            </a:avLst>
          </a:prstGeom>
          <a:solidFill>
            <a:srgbClr val="1A2744"/>
          </a:solidFill>
          <a:ln/>
        </p:spPr>
      </p:sp>
      <p:sp>
        <p:nvSpPr>
          <p:cNvPr id="21" name="Text 19"/>
          <p:cNvSpPr/>
          <p:nvPr/>
        </p:nvSpPr>
        <p:spPr>
          <a:xfrm>
            <a:off x="1847088" y="2944368"/>
            <a:ext cx="10241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景别·运镜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2962656" y="2880360"/>
            <a:ext cx="1024128" cy="457200"/>
          </a:xfrm>
          <a:prstGeom prst="roundRect">
            <a:avLst>
              <a:gd name="adj" fmla="val 12000"/>
            </a:avLst>
          </a:prstGeom>
          <a:solidFill>
            <a:srgbClr val="1A2744"/>
          </a:solidFill>
          <a:ln/>
        </p:spPr>
      </p:sp>
      <p:sp>
        <p:nvSpPr>
          <p:cNvPr id="23" name="Text 21"/>
          <p:cNvSpPr/>
          <p:nvPr/>
        </p:nvSpPr>
        <p:spPr>
          <a:xfrm>
            <a:off x="2962656" y="2944368"/>
            <a:ext cx="10241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画面描述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078224" y="2880360"/>
            <a:ext cx="1024128" cy="457200"/>
          </a:xfrm>
          <a:prstGeom prst="roundRect">
            <a:avLst>
              <a:gd name="adj" fmla="val 12000"/>
            </a:avLst>
          </a:prstGeom>
          <a:solidFill>
            <a:srgbClr val="F8F9FC"/>
          </a:solidFill>
          <a:ln/>
        </p:spPr>
      </p:sp>
      <p:sp>
        <p:nvSpPr>
          <p:cNvPr id="25" name="Text 23"/>
          <p:cNvSpPr/>
          <p:nvPr/>
        </p:nvSpPr>
        <p:spPr>
          <a:xfrm>
            <a:off x="4078224" y="2944368"/>
            <a:ext cx="10241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AI视觉钩子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5193792" y="2880360"/>
            <a:ext cx="1024128" cy="457200"/>
          </a:xfrm>
          <a:prstGeom prst="roundRect">
            <a:avLst>
              <a:gd name="adj" fmla="val 12000"/>
            </a:avLst>
          </a:prstGeom>
          <a:solidFill>
            <a:srgbClr val="F8F9FC"/>
          </a:solidFill>
          <a:ln/>
        </p:spPr>
      </p:sp>
      <p:sp>
        <p:nvSpPr>
          <p:cNvPr id="27" name="Text 25"/>
          <p:cNvSpPr/>
          <p:nvPr/>
        </p:nvSpPr>
        <p:spPr>
          <a:xfrm>
            <a:off x="5193792" y="2944368"/>
            <a:ext cx="10241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口播文案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6309360" y="2880360"/>
            <a:ext cx="1024128" cy="457200"/>
          </a:xfrm>
          <a:prstGeom prst="roundRect">
            <a:avLst>
              <a:gd name="adj" fmla="val 12000"/>
            </a:avLst>
          </a:prstGeom>
          <a:solidFill>
            <a:srgbClr val="F8F9FC"/>
          </a:solidFill>
          <a:ln/>
        </p:spPr>
      </p:sp>
      <p:sp>
        <p:nvSpPr>
          <p:cNvPr id="29" name="Text 27"/>
          <p:cNvSpPr/>
          <p:nvPr/>
        </p:nvSpPr>
        <p:spPr>
          <a:xfrm>
            <a:off x="6309360" y="2944368"/>
            <a:ext cx="10241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时长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7424928" y="2880360"/>
            <a:ext cx="1024128" cy="457200"/>
          </a:xfrm>
          <a:prstGeom prst="roundRect">
            <a:avLst>
              <a:gd name="adj" fmla="val 12000"/>
            </a:avLst>
          </a:prstGeom>
          <a:solidFill>
            <a:srgbClr val="F8F9FC"/>
          </a:solidFill>
          <a:ln/>
        </p:spPr>
      </p:sp>
      <p:sp>
        <p:nvSpPr>
          <p:cNvPr id="31" name="Text 29"/>
          <p:cNvSpPr/>
          <p:nvPr/>
        </p:nvSpPr>
        <p:spPr>
          <a:xfrm>
            <a:off x="7424928" y="2944368"/>
            <a:ext cx="10241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花字/特效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8540496" y="2880360"/>
            <a:ext cx="1024128" cy="457200"/>
          </a:xfrm>
          <a:prstGeom prst="roundRect">
            <a:avLst>
              <a:gd name="adj" fmla="val 12000"/>
            </a:avLst>
          </a:prstGeom>
          <a:solidFill>
            <a:srgbClr val="F8F9FC"/>
          </a:solidFill>
          <a:ln/>
        </p:spPr>
      </p:sp>
      <p:sp>
        <p:nvSpPr>
          <p:cNvPr id="33" name="Text 31"/>
          <p:cNvSpPr/>
          <p:nvPr/>
        </p:nvSpPr>
        <p:spPr>
          <a:xfrm>
            <a:off x="8540496" y="2944368"/>
            <a:ext cx="10241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音效/声画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9656064" y="2880360"/>
            <a:ext cx="1024128" cy="457200"/>
          </a:xfrm>
          <a:prstGeom prst="roundRect">
            <a:avLst>
              <a:gd name="adj" fmla="val 12000"/>
            </a:avLst>
          </a:prstGeom>
          <a:solidFill>
            <a:srgbClr val="F8F9FC"/>
          </a:solidFill>
          <a:ln/>
        </p:spPr>
      </p:sp>
      <p:sp>
        <p:nvSpPr>
          <p:cNvPr id="35" name="Text 33"/>
          <p:cNvSpPr/>
          <p:nvPr/>
        </p:nvSpPr>
        <p:spPr>
          <a:xfrm>
            <a:off x="9656064" y="2944368"/>
            <a:ext cx="10241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灯光/机位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10771632" y="2880360"/>
            <a:ext cx="1024128" cy="457200"/>
          </a:xfrm>
          <a:prstGeom prst="roundRect">
            <a:avLst>
              <a:gd name="adj" fmla="val 12000"/>
            </a:avLst>
          </a:prstGeom>
          <a:solidFill>
            <a:srgbClr val="F8F9FC"/>
          </a:solidFill>
          <a:ln/>
        </p:spPr>
      </p:sp>
      <p:sp>
        <p:nvSpPr>
          <p:cNvPr id="37" name="Text 35"/>
          <p:cNvSpPr/>
          <p:nvPr/>
        </p:nvSpPr>
        <p:spPr>
          <a:xfrm>
            <a:off x="10771632" y="2944368"/>
            <a:ext cx="10241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备注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731520" y="36576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7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设计演进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731520" y="4069080"/>
            <a:ext cx="2560320" cy="594360"/>
          </a:xfrm>
          <a:prstGeom prst="roundRect">
            <a:avLst>
              <a:gd name="adj" fmla="val 9231"/>
            </a:avLst>
          </a:prstGeom>
          <a:solidFill>
            <a:srgbClr val="F8F9FC"/>
          </a:solidFill>
          <a:ln/>
        </p:spPr>
      </p:sp>
      <p:sp>
        <p:nvSpPr>
          <p:cNvPr id="40" name="Text 38"/>
          <p:cNvSpPr/>
          <p:nvPr/>
        </p:nvSpPr>
        <p:spPr>
          <a:xfrm>
            <a:off x="868680" y="411480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B82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v1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1371600" y="411480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瑞士蓝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868680" y="438912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3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对比度低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3566160" y="4069080"/>
            <a:ext cx="2560320" cy="594360"/>
          </a:xfrm>
          <a:prstGeom prst="roundRect">
            <a:avLst>
              <a:gd name="adj" fmla="val 9231"/>
            </a:avLst>
          </a:prstGeom>
          <a:solidFill>
            <a:srgbClr val="F8F9FC"/>
          </a:solidFill>
          <a:ln/>
        </p:spPr>
      </p:sp>
      <p:sp>
        <p:nvSpPr>
          <p:cNvPr id="44" name="Text 42"/>
          <p:cNvSpPr/>
          <p:nvPr/>
        </p:nvSpPr>
        <p:spPr>
          <a:xfrm>
            <a:off x="3703320" y="411480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B82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v2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4206240" y="411480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暖调编辑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3703320" y="438912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3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看不清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6400800" y="4069080"/>
            <a:ext cx="2560320" cy="594360"/>
          </a:xfrm>
          <a:prstGeom prst="roundRect">
            <a:avLst>
              <a:gd name="adj" fmla="val 9231"/>
            </a:avLst>
          </a:prstGeom>
          <a:solidFill>
            <a:srgbClr val="F8F9FC"/>
          </a:solidFill>
          <a:ln/>
        </p:spPr>
      </p:sp>
      <p:sp>
        <p:nvSpPr>
          <p:cNvPr id="48" name="Text 46"/>
          <p:cNvSpPr/>
          <p:nvPr/>
        </p:nvSpPr>
        <p:spPr>
          <a:xfrm>
            <a:off x="6537960" y="411480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B82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v3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7040880" y="411480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高对比黑白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6537960" y="438912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3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太刺眼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9235440" y="4069080"/>
            <a:ext cx="2560320" cy="594360"/>
          </a:xfrm>
          <a:prstGeom prst="roundRect">
            <a:avLst>
              <a:gd name="adj" fmla="val 9231"/>
            </a:avLst>
          </a:prstGeom>
          <a:solidFill>
            <a:srgbClr val="ECFDF5"/>
          </a:solidFill>
          <a:ln/>
        </p:spPr>
      </p:sp>
      <p:sp>
        <p:nvSpPr>
          <p:cNvPr id="52" name="Text 50"/>
          <p:cNvSpPr/>
          <p:nvPr/>
        </p:nvSpPr>
        <p:spPr>
          <a:xfrm>
            <a:off x="9372600" y="411480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B82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v4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9875520" y="411480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莫兰迪绿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9372600" y="438912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0B9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最终版 ✓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731520" y="49377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7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AI视频提示词升级</a:t>
            </a:r>
            <a:endParaRPr lang="en-US" sz="1400" dirty="0"/>
          </a:p>
        </p:txBody>
      </p:sp>
      <p:sp>
        <p:nvSpPr>
          <p:cNvPr id="56" name="Text 54"/>
          <p:cNvSpPr/>
          <p:nvPr/>
        </p:nvSpPr>
        <p:spPr>
          <a:xfrm>
            <a:off x="731520" y="530352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3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英文MJ/DALL-E格式 → 中文Seedance格式。专业术语体系（景别·运镜·机位·光影·风格）。最多3镜（开场钩子+产品英雄+特殊镜）。智能运镜映射（支持复合运镜如滑轨推/摇镜）。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1072591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7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数据闭环：竞品分析→知识库→生成→质检→选题→热点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960120"/>
            <a:ext cx="1097280" cy="3657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" name="Shape 3"/>
          <p:cNvSpPr/>
          <p:nvPr/>
        </p:nvSpPr>
        <p:spPr>
          <a:xfrm>
            <a:off x="502920" y="1645920"/>
            <a:ext cx="1417320" cy="1097280"/>
          </a:xfrm>
          <a:prstGeom prst="roundRect">
            <a:avLst>
              <a:gd name="adj" fmla="val 6667"/>
            </a:avLst>
          </a:prstGeom>
          <a:solidFill>
            <a:srgbClr val="4F46E5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737360"/>
            <a:ext cx="1417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竞品分析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2920" y="2103120"/>
            <a:ext cx="14173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B站视频下载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转录+视觉+音频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deep_analysis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920240" y="1965960"/>
            <a:ext cx="1097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73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029968" y="1645920"/>
            <a:ext cx="1417320" cy="1097280"/>
          </a:xfrm>
          <a:prstGeom prst="roundRect">
            <a:avLst>
              <a:gd name="adj" fmla="val 6667"/>
            </a:avLst>
          </a:prstGeom>
          <a:solidFill>
            <a:srgbClr val="7C3AED"/>
          </a:solidFill>
          <a:ln/>
        </p:spPr>
      </p:sp>
      <p:sp>
        <p:nvSpPr>
          <p:cNvPr id="10" name="Text 8"/>
          <p:cNvSpPr/>
          <p:nvPr/>
        </p:nvSpPr>
        <p:spPr>
          <a:xfrm>
            <a:off x="2029968" y="1737360"/>
            <a:ext cx="1417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Wiki编译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029968" y="2103120"/>
            <a:ext cx="14173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LLM知识蒸馏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品类wiki页面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钩子/节奏/拍摄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47288" y="1965960"/>
            <a:ext cx="1097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73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557016" y="1645920"/>
            <a:ext cx="1417320" cy="1097280"/>
          </a:xfrm>
          <a:prstGeom prst="roundRect">
            <a:avLst>
              <a:gd name="adj" fmla="val 6667"/>
            </a:avLst>
          </a:prstGeom>
          <a:solidFill>
            <a:srgbClr val="3B82F6"/>
          </a:solidFill>
          <a:ln/>
        </p:spPr>
      </p:sp>
      <p:sp>
        <p:nvSpPr>
          <p:cNvPr id="14" name="Text 12"/>
          <p:cNvSpPr/>
          <p:nvPr/>
        </p:nvSpPr>
        <p:spPr>
          <a:xfrm>
            <a:off x="3557016" y="1737360"/>
            <a:ext cx="1417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RAG检索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557016" y="2103120"/>
            <a:ext cx="14173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BGE向量+ChromaDB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语义检索历史脚本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8条参考chunk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4974336" y="1965960"/>
            <a:ext cx="1097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73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084064" y="1645920"/>
            <a:ext cx="1417320" cy="1097280"/>
          </a:xfrm>
          <a:prstGeom prst="roundRect">
            <a:avLst>
              <a:gd name="adj" fmla="val 6667"/>
            </a:avLst>
          </a:prstGeom>
          <a:solidFill>
            <a:srgbClr val="10B981"/>
          </a:solidFill>
          <a:ln/>
        </p:spPr>
      </p:sp>
      <p:sp>
        <p:nvSpPr>
          <p:cNvPr id="18" name="Text 16"/>
          <p:cNvSpPr/>
          <p:nvPr/>
        </p:nvSpPr>
        <p:spPr>
          <a:xfrm>
            <a:off x="5084064" y="1737360"/>
            <a:ext cx="1417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文案生成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084064" y="2103120"/>
            <a:ext cx="14173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DeepSeek API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人设+品类画像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wiki注入25000字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6501384" y="1965960"/>
            <a:ext cx="1097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73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611112" y="1645920"/>
            <a:ext cx="1417320" cy="1097280"/>
          </a:xfrm>
          <a:prstGeom prst="roundRect">
            <a:avLst>
              <a:gd name="adj" fmla="val 6667"/>
            </a:avLst>
          </a:prstGeom>
          <a:solidFill>
            <a:srgbClr val="EF4444"/>
          </a:solidFill>
          <a:ln/>
        </p:spPr>
      </p:sp>
      <p:sp>
        <p:nvSpPr>
          <p:cNvPr id="22" name="Text 20"/>
          <p:cNvSpPr/>
          <p:nvPr/>
        </p:nvSpPr>
        <p:spPr>
          <a:xfrm>
            <a:off x="6611112" y="1737360"/>
            <a:ext cx="1417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热点挂钩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611112" y="2103120"/>
            <a:ext cx="14173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5平台热搜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meme引擎匹配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选题种子文件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8028432" y="1965960"/>
            <a:ext cx="1097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73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8138160" y="1645920"/>
            <a:ext cx="1417320" cy="1097280"/>
          </a:xfrm>
          <a:prstGeom prst="roundRect">
            <a:avLst>
              <a:gd name="adj" fmla="val 6667"/>
            </a:avLst>
          </a:prstGeom>
          <a:solidFill>
            <a:srgbClr val="F59E0B"/>
          </a:solidFill>
          <a:ln/>
        </p:spPr>
      </p:sp>
      <p:sp>
        <p:nvSpPr>
          <p:cNvPr id="26" name="Text 24"/>
          <p:cNvSpPr/>
          <p:nvPr/>
        </p:nvSpPr>
        <p:spPr>
          <a:xfrm>
            <a:off x="8138160" y="1737360"/>
            <a:ext cx="1417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14项审计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8138160" y="2103120"/>
            <a:ext cx="14173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AutoFix×3轮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表演式口语检测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违禁词合规过滤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9555480" y="1965960"/>
            <a:ext cx="1097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73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9665208" y="1645920"/>
            <a:ext cx="1417320" cy="1097280"/>
          </a:xfrm>
          <a:prstGeom prst="roundRect">
            <a:avLst>
              <a:gd name="adj" fmla="val 6667"/>
            </a:avLst>
          </a:prstGeom>
          <a:solidFill>
            <a:srgbClr val="0891B2"/>
          </a:solidFill>
          <a:ln/>
        </p:spPr>
      </p:sp>
      <p:sp>
        <p:nvSpPr>
          <p:cNvPr id="30" name="Text 28"/>
          <p:cNvSpPr/>
          <p:nvPr/>
        </p:nvSpPr>
        <p:spPr>
          <a:xfrm>
            <a:off x="9665208" y="1737360"/>
            <a:ext cx="1417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成品输出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9665208" y="2103120"/>
            <a:ext cx="14173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.docx格式化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宋体排版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花字标注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502920" y="2926080"/>
            <a:ext cx="11183112" cy="27432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33" name="Text 31"/>
          <p:cNvSpPr/>
          <p:nvPr/>
        </p:nvSpPr>
        <p:spPr>
          <a:xfrm>
            <a:off x="731520" y="32918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7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闭环机制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731520" y="37033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每次生成记录→log.md→累积5次同品类→自动编译wiki新页面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731520" y="41148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审计失败项统计→analytics反哺→下次生成时注入针对性写作建议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731520" y="452628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选题种子文件→meme引擎→每天自动更新→生成时实时挂钩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731520" y="493776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竞品分析→wiki页面→生成时注入→新竞品数据→更新wiki——持续循环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1072591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7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成果量化：修复前后对比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960120"/>
            <a:ext cx="1097280" cy="3657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463040"/>
            <a:ext cx="2468880" cy="914400"/>
          </a:xfrm>
          <a:prstGeom prst="roundRect">
            <a:avLst>
              <a:gd name="adj" fmla="val 10000"/>
            </a:avLst>
          </a:prstGeom>
          <a:solidFill>
            <a:srgbClr val="F8F9FC"/>
          </a:solidFill>
          <a:ln/>
          <a:effectLst>
            <a:outerShdw sx="100000" sy="100000" kx="0" ky="0" algn="bl" rotWithShape="0" blurRad="76200" dist="25400" dir="16200000">
              <a:srgbClr val="000000">
                <a:alpha val="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31520" y="160020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3B82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24660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731520" y="205740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3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Wiki注入字数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474720" y="1463040"/>
            <a:ext cx="2468880" cy="914400"/>
          </a:xfrm>
          <a:prstGeom prst="roundRect">
            <a:avLst>
              <a:gd name="adj" fmla="val 10000"/>
            </a:avLst>
          </a:prstGeom>
          <a:solidFill>
            <a:srgbClr val="F8F9FC"/>
          </a:solidFill>
          <a:ln/>
          <a:effectLst>
            <a:outerShdw sx="100000" sy="100000" kx="0" ky="0" algn="bl" rotWithShape="0" blurRad="76200" dist="25400" dir="16200000">
              <a:srgbClr val="000000">
                <a:alpha val="6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474720" y="160020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0B9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3.5x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474720" y="205740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3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竞品知识增量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217920" y="1463040"/>
            <a:ext cx="2468880" cy="914400"/>
          </a:xfrm>
          <a:prstGeom prst="roundRect">
            <a:avLst>
              <a:gd name="adj" fmla="val 10000"/>
            </a:avLst>
          </a:prstGeom>
          <a:solidFill>
            <a:srgbClr val="F8F9FC"/>
          </a:solidFill>
          <a:ln/>
          <a:effectLst>
            <a:outerShdw sx="100000" sy="100000" kx="0" ky="0" algn="bl" rotWithShape="0" blurRad="76200" dist="25400" dir="16200000">
              <a:srgbClr val="000000">
                <a:alpha val="6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217920" y="160020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F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0个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6217920" y="205740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3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填充词残留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8961120" y="1463040"/>
            <a:ext cx="2468880" cy="914400"/>
          </a:xfrm>
          <a:prstGeom prst="roundRect">
            <a:avLst>
              <a:gd name="adj" fmla="val 10000"/>
            </a:avLst>
          </a:prstGeom>
          <a:solidFill>
            <a:srgbClr val="F8F9FC"/>
          </a:solidFill>
          <a:ln/>
          <a:effectLst>
            <a:outerShdw sx="100000" sy="100000" kx="0" ky="0" algn="bl" rotWithShape="0" blurRad="76200" dist="25400" dir="16200000">
              <a:srgbClr val="000000">
                <a:alpha val="6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961120" y="160020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450-500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8961120" y="205740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3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目标字数/篇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31520" y="2743200"/>
            <a:ext cx="10698480" cy="411480"/>
          </a:xfrm>
          <a:prstGeom prst="rect">
            <a:avLst/>
          </a:prstGeom>
          <a:solidFill>
            <a:srgbClr val="F8F9FC"/>
          </a:solidFill>
          <a:ln/>
        </p:spPr>
      </p:sp>
      <p:sp>
        <p:nvSpPr>
          <p:cNvPr id="18" name="Text 16"/>
          <p:cNvSpPr/>
          <p:nvPr/>
        </p:nvSpPr>
        <p:spPr>
          <a:xfrm>
            <a:off x="914400" y="28163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7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CORE_MEMES过期梗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840480" y="2816352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F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11条（含"AI小龙虾"）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858000" y="28163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3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498080" y="28163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3条句式型通用梗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731520" y="3200400"/>
            <a:ext cx="10698480" cy="4114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3" name="Text 21"/>
          <p:cNvSpPr/>
          <p:nvPr/>
        </p:nvSpPr>
        <p:spPr>
          <a:xfrm>
            <a:off x="914400" y="32735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7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Wiki注入内容量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840480" y="3273552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F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~7000字（盲截断1500/页）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858000" y="32735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3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7498080" y="32735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~25000字（相关性提取5000/页）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731520" y="3657600"/>
            <a:ext cx="10698480" cy="411480"/>
          </a:xfrm>
          <a:prstGeom prst="rect">
            <a:avLst/>
          </a:prstGeom>
          <a:solidFill>
            <a:srgbClr val="F8F9FC"/>
          </a:solidFill>
          <a:ln/>
        </p:spPr>
      </p:sp>
      <p:sp>
        <p:nvSpPr>
          <p:cNvPr id="28" name="Text 26"/>
          <p:cNvSpPr/>
          <p:nvPr/>
        </p:nvSpPr>
        <p:spPr>
          <a:xfrm>
            <a:off x="914400" y="37307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7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文案填充词密度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840480" y="3730752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F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15+/篇（说实话×6/有一说一×4）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858000" y="37307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3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7498080" y="37307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0个/篇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731520" y="4114800"/>
            <a:ext cx="10698480" cy="4114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3" name="Text 31"/>
          <p:cNvSpPr/>
          <p:nvPr/>
        </p:nvSpPr>
        <p:spPr>
          <a:xfrm>
            <a:off x="914400" y="4187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7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选题数据来源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3840480" y="4187952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F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0（硬编码CORE_MEMES）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858000" y="4187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3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7498080" y="4187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5平台实时热搜+行业事件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731520" y="4572000"/>
            <a:ext cx="10698480" cy="411480"/>
          </a:xfrm>
          <a:prstGeom prst="rect">
            <a:avLst/>
          </a:prstGeom>
          <a:solidFill>
            <a:srgbClr val="F8F9FC"/>
          </a:solidFill>
          <a:ln/>
        </p:spPr>
      </p:sp>
      <p:sp>
        <p:nvSpPr>
          <p:cNvPr id="38" name="Text 36"/>
          <p:cNvSpPr/>
          <p:nvPr/>
        </p:nvSpPr>
        <p:spPr>
          <a:xfrm>
            <a:off x="914400" y="46451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7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审计检查项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3840480" y="4645152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F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11项，通过门槛8/11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6858000" y="46451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3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7498080" y="46451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12项，通过门槛10/12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731520" y="5029200"/>
            <a:ext cx="10698480" cy="4114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3" name="Text 41"/>
          <p:cNvSpPr/>
          <p:nvPr/>
        </p:nvSpPr>
        <p:spPr>
          <a:xfrm>
            <a:off x="914400" y="51023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7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违禁词覆盖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3840480" y="5102352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F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基础合规词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6858000" y="51023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3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7498080" y="51023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+独有/天花板/毕业/封神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731520" y="5486400"/>
            <a:ext cx="10698480" cy="411480"/>
          </a:xfrm>
          <a:prstGeom prst="rect">
            <a:avLst/>
          </a:prstGeom>
          <a:solidFill>
            <a:srgbClr val="F8F9FC"/>
          </a:solidFill>
          <a:ln/>
        </p:spPr>
      </p:sp>
      <p:sp>
        <p:nvSpPr>
          <p:cNvPr id="48" name="Text 46"/>
          <p:cNvSpPr/>
          <p:nvPr/>
        </p:nvSpPr>
        <p:spPr>
          <a:xfrm>
            <a:off x="914400" y="55595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7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文案篇幅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3840480" y="5559552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F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700-900字（2分钟+）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6858000" y="55595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3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7498080" y="55595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450-500字（抖音60-90秒）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731520" y="5943600"/>
            <a:ext cx="10698480" cy="4114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3" name="Text 51"/>
          <p:cNvSpPr/>
          <p:nvPr/>
        </p:nvSpPr>
        <p:spPr>
          <a:xfrm>
            <a:off x="914400" y="60167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7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分镜表列数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3840480" y="6016752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F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11列（含打勾列）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6858000" y="60167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3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200" dirty="0"/>
          </a:p>
        </p:txBody>
      </p:sp>
      <p:sp>
        <p:nvSpPr>
          <p:cNvPr id="56" name="Text 54"/>
          <p:cNvSpPr/>
          <p:nvPr/>
        </p:nvSpPr>
        <p:spPr>
          <a:xfrm>
            <a:off x="7498080" y="60167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10列（去除打勾，莫兰迪绿）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1828800"/>
            <a:ext cx="1036015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下一步计划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914400" y="3017520"/>
            <a:ext cx="103601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持续迭代 · 数据驱动 · 自动化运营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914400" y="4114800"/>
            <a:ext cx="1828800" cy="3657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6" name="Shape 4"/>
          <p:cNvSpPr/>
          <p:nvPr/>
        </p:nvSpPr>
        <p:spPr>
          <a:xfrm>
            <a:off x="1371600" y="1828800"/>
            <a:ext cx="9445752" cy="731520"/>
          </a:xfrm>
          <a:prstGeom prst="roundRect">
            <a:avLst>
              <a:gd name="adj" fmla="val 10000"/>
            </a:avLst>
          </a:prstGeom>
          <a:solidFill>
            <a:srgbClr val="1A2744"/>
          </a:solidFill>
          <a:ln/>
        </p:spPr>
      </p:sp>
      <p:sp>
        <p:nvSpPr>
          <p:cNvPr id="7" name="Text 5"/>
          <p:cNvSpPr/>
          <p:nvPr/>
        </p:nvSpPr>
        <p:spPr>
          <a:xfrm>
            <a:off x="1554480" y="1965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B82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2194560" y="19202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硬性质检门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2194560" y="22402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生成后扫描禁用词，超1个自动丢弃重来。彻底杜绝劣质输出到达用户手中。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371600" y="2743200"/>
            <a:ext cx="9445752" cy="731520"/>
          </a:xfrm>
          <a:prstGeom prst="roundRect">
            <a:avLst>
              <a:gd name="adj" fmla="val 10000"/>
            </a:avLst>
          </a:prstGeom>
          <a:solidFill>
            <a:srgbClr val="1A2744"/>
          </a:solidFill>
          <a:ln/>
        </p:spPr>
      </p:sp>
      <p:sp>
        <p:nvSpPr>
          <p:cNvPr id="11" name="Text 9"/>
          <p:cNvSpPr/>
          <p:nvPr/>
        </p:nvSpPr>
        <p:spPr>
          <a:xfrm>
            <a:off x="1554480" y="28803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B82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2194560" y="28346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选题→内容自动化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2194560" y="31546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每日热点直接生成选题brief→一键出稿。商单空档期实现全自动内容生产。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1371600" y="3657600"/>
            <a:ext cx="9445752" cy="731520"/>
          </a:xfrm>
          <a:prstGeom prst="roundRect">
            <a:avLst>
              <a:gd name="adj" fmla="val 10000"/>
            </a:avLst>
          </a:prstGeom>
          <a:solidFill>
            <a:srgbClr val="1A2744"/>
          </a:solidFill>
          <a:ln/>
        </p:spPr>
      </p:sp>
      <p:sp>
        <p:nvSpPr>
          <p:cNvPr id="15" name="Text 13"/>
          <p:cNvSpPr/>
          <p:nvPr/>
        </p:nvSpPr>
        <p:spPr>
          <a:xfrm>
            <a:off x="1554480" y="3794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B82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2194560" y="3749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Claude API接入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2194560" y="40690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DeepSeek风格偏差不可控，接入Claude作为后处理/替代引擎，稳定输出质量。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1371600" y="4572000"/>
            <a:ext cx="9445752" cy="731520"/>
          </a:xfrm>
          <a:prstGeom prst="roundRect">
            <a:avLst>
              <a:gd name="adj" fmla="val 10000"/>
            </a:avLst>
          </a:prstGeom>
          <a:solidFill>
            <a:srgbClr val="1A2744"/>
          </a:solidFill>
          <a:ln/>
        </p:spPr>
      </p:sp>
      <p:sp>
        <p:nvSpPr>
          <p:cNvPr id="19" name="Text 17"/>
          <p:cNvSpPr/>
          <p:nvPr/>
        </p:nvSpPr>
        <p:spPr>
          <a:xfrm>
            <a:off x="1554480" y="47091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B82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2194560" y="46634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竞品数据增强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2194560" y="49834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竞品分析管线从B站扩展到抖音。分析真实抖音爆款文案的结构和钩子模式。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1371600" y="5486400"/>
            <a:ext cx="9445752" cy="731520"/>
          </a:xfrm>
          <a:prstGeom prst="roundRect">
            <a:avLst>
              <a:gd name="adj" fmla="val 10000"/>
            </a:avLst>
          </a:prstGeom>
          <a:solidFill>
            <a:srgbClr val="1A2744"/>
          </a:solidFill>
          <a:ln/>
        </p:spPr>
      </p:sp>
      <p:sp>
        <p:nvSpPr>
          <p:cNvPr id="23" name="Text 21"/>
          <p:cNvSpPr/>
          <p:nvPr/>
        </p:nvSpPr>
        <p:spPr>
          <a:xfrm>
            <a:off x="1554480" y="56235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B82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2194560" y="55778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数据看板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2194560" y="5897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生成次数/审计通过率/人工修改率可视化。用量化数据证明管线ROI。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2026-06-07T12:06:48Z</dcterms:created>
  <dcterms:modified xsi:type="dcterms:W3CDTF">2026-06-07T12:06:48Z</dcterms:modified>
</cp:coreProperties>
</file>